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1" r:id="rId2"/>
    <p:sldId id="257" r:id="rId3"/>
    <p:sldId id="258" r:id="rId4"/>
    <p:sldId id="273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24E194-7853-4CAC-9577-CFC7EF3340D6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F14C51-763B-4DE8-97DE-0CB1175F5A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9390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808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C7600-5BA8-4A54-887F-74AF87750A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51075" y="1899963"/>
            <a:ext cx="9701907" cy="2450492"/>
          </a:xfrm>
        </p:spPr>
        <p:txBody>
          <a:bodyPr anchor="ctr">
            <a:normAutofit fontScale="90000"/>
          </a:bodyPr>
          <a:lstStyle/>
          <a:p>
            <a:pPr algn="l"/>
            <a:r>
              <a:rPr lang="en-US" sz="4000" b="1" dirty="0"/>
              <a:t>AI Hackathon – </a:t>
            </a:r>
            <a:r>
              <a:rPr lang="en-IN" sz="4000" dirty="0" err="1">
                <a:ea typeface="+mj-lt"/>
                <a:cs typeface="+mj-lt"/>
              </a:rPr>
              <a:t>qa</a:t>
            </a:r>
            <a:r>
              <a:rPr lang="en-IN" sz="4000" dirty="0">
                <a:ea typeface="+mj-lt"/>
                <a:cs typeface="+mj-lt"/>
              </a:rPr>
              <a:t>-analyst</a:t>
            </a:r>
            <a:br>
              <a:rPr lang="en-IN" sz="4000" dirty="0">
                <a:ea typeface="+mj-lt"/>
                <a:cs typeface="+mj-lt"/>
              </a:rPr>
            </a:br>
            <a:r>
              <a:rPr lang="en-US" sz="2200" dirty="0"/>
              <a:t>The end-to-end QA analyst that turns a Jira Epic into a tested, reported, go/no-go decision — plan, gate, seed, script, execute, and report, with humans only in the loop where it matters.</a:t>
            </a:r>
            <a:br>
              <a:rPr lang="en-US" sz="4000" dirty="0">
                <a:solidFill>
                  <a:srgbClr val="C9D6E6"/>
                </a:solidFill>
              </a:rPr>
            </a:br>
            <a:br>
              <a:rPr lang="en-IN" sz="4000" b="1" dirty="0">
                <a:solidFill>
                  <a:srgbClr val="FFFFFF"/>
                </a:solidFill>
                <a:latin typeface="Calibri Light"/>
              </a:rPr>
            </a:br>
            <a:endParaRPr lang="en-US" sz="4000" b="1" dirty="0">
              <a:ea typeface="Calibri Light"/>
              <a:cs typeface="Calibri Ligh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584786-6548-4BB4-95FD-977AD1F36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9238" y="4361765"/>
            <a:ext cx="7197726" cy="1405467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Rohit Omar</a:t>
            </a:r>
            <a:endParaRPr lang="en-US" sz="3600" dirty="0">
              <a:solidFill>
                <a:schemeClr val="accent1">
                  <a:lumMod val="40000"/>
                  <a:lumOff val="60000"/>
                </a:schemeClr>
              </a:solidFill>
              <a:ea typeface="Calibri"/>
              <a:cs typeface="Calibri"/>
            </a:endParaRPr>
          </a:p>
          <a:p>
            <a:pPr algn="ctr"/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Submission date - 13-Jul-2026</a:t>
            </a:r>
            <a:endParaRPr lang="en-US" sz="3600" dirty="0">
              <a:solidFill>
                <a:schemeClr val="accent1">
                  <a:lumMod val="40000"/>
                  <a:lumOff val="60000"/>
                </a:schemeClr>
              </a:solidFill>
              <a:ea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218643-B462-5E19-35F1-1C0272032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3769" y="407791"/>
            <a:ext cx="5111974" cy="1365953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3E34054-43A4-ECB2-B72A-2064307DFD72}"/>
              </a:ext>
            </a:extLst>
          </p:cNvPr>
          <p:cNvSpPr/>
          <p:nvPr/>
        </p:nvSpPr>
        <p:spPr>
          <a:xfrm>
            <a:off x="490855" y="3858768"/>
            <a:ext cx="3520440" cy="384048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/>
          <a:lstStyle/>
          <a:p>
            <a:pPr algn="ctr"/>
            <a:r>
              <a:rPr sz="1100" b="1">
                <a:solidFill>
                  <a:srgbClr val="2E6FB5"/>
                </a:solidFill>
                <a:latin typeface="Calibri"/>
              </a:rPr>
              <a:t>Jira Epic/Story in → verified release decision out</a:t>
            </a:r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877193BC-1866-5216-8B31-BBD50FA66237}"/>
              </a:ext>
            </a:extLst>
          </p:cNvPr>
          <p:cNvSpPr/>
          <p:nvPr/>
        </p:nvSpPr>
        <p:spPr>
          <a:xfrm>
            <a:off x="4461698" y="3858768"/>
            <a:ext cx="3520440" cy="384048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/>
          <a:lstStyle/>
          <a:p>
            <a:pPr algn="ctr"/>
            <a:r>
              <a:rPr sz="1100" b="1" dirty="0">
                <a:solidFill>
                  <a:srgbClr val="2E6FB5"/>
                </a:solidFill>
                <a:latin typeface="Calibri"/>
              </a:rPr>
              <a:t>Delegates design &amp; scripting to 3 sibling agents</a:t>
            </a: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D376DF97-4C21-3A5D-06C0-53B197590917}"/>
              </a:ext>
            </a:extLst>
          </p:cNvPr>
          <p:cNvSpPr/>
          <p:nvPr/>
        </p:nvSpPr>
        <p:spPr>
          <a:xfrm>
            <a:off x="8357616" y="3858768"/>
            <a:ext cx="3520440" cy="384048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/>
          <a:lstStyle/>
          <a:p>
            <a:pPr algn="ctr"/>
            <a:r>
              <a:rPr sz="1100" b="1">
                <a:solidFill>
                  <a:srgbClr val="2E6FB5"/>
                </a:solidFill>
                <a:latin typeface="Calibri"/>
              </a:rPr>
              <a:t>60–70% API · 20–30% UI · 5–10% manual test pyramid</a:t>
            </a:r>
          </a:p>
        </p:txBody>
      </p:sp>
    </p:spTree>
    <p:extLst>
      <p:ext uri="{BB962C8B-B14F-4D97-AF65-F5344CB8AC3E}">
        <p14:creationId xmlns:p14="http://schemas.microsoft.com/office/powerpoint/2010/main" val="3417721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92608"/>
            <a:ext cx="1920240" cy="51310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54864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1" dirty="0">
                <a:solidFill>
                  <a:srgbClr val="2E6FB5"/>
                </a:solidFill>
                <a:latin typeface="Calibri"/>
              </a:rPr>
              <a:t>Problem Statement</a:t>
            </a:r>
            <a:endParaRPr sz="1200" b="1" i="0" dirty="0">
              <a:solidFill>
                <a:srgbClr val="2E6FB5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 dirty="0">
                <a:solidFill>
                  <a:srgbClr val="1F3A5F"/>
                </a:solidFill>
                <a:latin typeface="Calibri Light"/>
              </a:rPr>
              <a:t>QA on a ticket is always the same nine questions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653796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5943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600" dirty="0">
                <a:solidFill>
                  <a:srgbClr val="1F3A5F"/>
                </a:solidFill>
                <a:latin typeface="Calibri"/>
              </a:rPr>
              <a:t>›  Did anyone write a test plan, or did testing start from vibes?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600" dirty="0">
                <a:solidFill>
                  <a:srgbClr val="1F3A5F"/>
                </a:solidFill>
                <a:latin typeface="Calibri"/>
              </a:rPr>
              <a:t>›  Is the environment even up — and did this ticket's change actually ship there?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600" dirty="0">
                <a:solidFill>
                  <a:srgbClr val="1F3A5F"/>
                </a:solidFill>
                <a:latin typeface="Calibri"/>
              </a:rPr>
              <a:t>›  Are the automation scripts current, or quietly stale since the last refactor?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600" dirty="0">
                <a:solidFill>
                  <a:srgbClr val="1F3A5F"/>
                </a:solidFill>
                <a:latin typeface="Calibri"/>
              </a:rPr>
              <a:t>›  Did we run everything (slow, wasteful) or nothing impacted (risky)?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600" dirty="0">
                <a:solidFill>
                  <a:srgbClr val="1F3A5F"/>
                </a:solidFill>
                <a:latin typeface="Calibri"/>
              </a:rPr>
              <a:t>›  When a test fails, is that a real bug — or a flaky selector wasting an afternoon?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600" dirty="0">
                <a:solidFill>
                  <a:srgbClr val="1F3A5F"/>
                </a:solidFill>
                <a:latin typeface="Calibri"/>
              </a:rPr>
              <a:t>›  Is there a report anyone can actually hand to a release manager?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874519"/>
            <a:ext cx="4206240" cy="429768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35240" y="214884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6AADC8"/>
                </a:solidFill>
                <a:latin typeface="Calibri"/>
              </a:rPr>
              <a:t>qa-analyst's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560320"/>
            <a:ext cx="36576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50" b="0" i="1">
                <a:solidFill>
                  <a:srgbClr val="FFFFFF"/>
                </a:solidFill>
                <a:latin typeface="Calibri Light"/>
              </a:rPr>
              <a:t>One agent owns the orchestration end to end, delegates the parts that need deep specialist judgment, and refuses to fake a result it didn't actually produce.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92608"/>
            <a:ext cx="1920240" cy="51310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54864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1" dirty="0">
                <a:solidFill>
                  <a:srgbClr val="2E6FB5"/>
                </a:solidFill>
                <a:latin typeface="Calibri"/>
              </a:rPr>
              <a:t>Solution Approach </a:t>
            </a:r>
            <a:endParaRPr sz="1200" b="1" i="0" dirty="0">
              <a:solidFill>
                <a:srgbClr val="2E6FB5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 Light"/>
              </a:rPr>
              <a:t>One input. A verified release decision 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03120"/>
            <a:ext cx="329184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5C6E87"/>
                </a:solidFill>
                <a:latin typeface="Calibri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E6FB5"/>
                </a:solidFill>
                <a:latin typeface="Consolas"/>
              </a:rPr>
              <a:t>PROJ-1234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2900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C6E87"/>
                </a:solidFill>
                <a:latin typeface="Calibri"/>
              </a:rPr>
              <a:t>A single Jira Epic or Story key — that's the entire interface.</a:t>
            </a:r>
          </a:p>
        </p:txBody>
      </p:sp>
      <p:sp>
        <p:nvSpPr>
          <p:cNvPr id="11" name="Chevron 10"/>
          <p:cNvSpPr/>
          <p:nvPr/>
        </p:nvSpPr>
        <p:spPr>
          <a:xfrm>
            <a:off x="4069080" y="3520440"/>
            <a:ext cx="822960" cy="502920"/>
          </a:xfrm>
          <a:prstGeom prst="chevron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74920" y="2103120"/>
            <a:ext cx="3291840" cy="3383280"/>
          </a:xfrm>
          <a:prstGeom prst="roundRect">
            <a:avLst>
              <a:gd name="adj" fmla="val 8000"/>
            </a:avLst>
          </a:prstGeom>
          <a:solidFill>
            <a:srgbClr val="E3ECF6"/>
          </a:solidFill>
          <a:ln w="9525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49240" y="23317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E6FB5"/>
                </a:solidFill>
                <a:latin typeface="Calibri"/>
              </a:rPr>
              <a:t>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69748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E6FB5"/>
                </a:solidFill>
                <a:latin typeface="Calibri Light"/>
              </a:rPr>
              <a:t>7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342900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3A5F"/>
                </a:solidFill>
                <a:latin typeface="Calibri"/>
              </a:rPr>
              <a:t>Plan → gate → seed → script → execute → analyze → report — orchestrated by qa-analyst, delegated to specialists.</a:t>
            </a:r>
          </a:p>
        </p:txBody>
      </p:sp>
      <p:sp>
        <p:nvSpPr>
          <p:cNvPr id="16" name="Chevron 15"/>
          <p:cNvSpPr/>
          <p:nvPr/>
        </p:nvSpPr>
        <p:spPr>
          <a:xfrm>
            <a:off x="8549640" y="3520440"/>
            <a:ext cx="822960" cy="502920"/>
          </a:xfrm>
          <a:prstGeom prst="chevron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555480" y="2103120"/>
            <a:ext cx="2057400" cy="3383280"/>
          </a:xfrm>
          <a:prstGeom prst="roundRect">
            <a:avLst>
              <a:gd name="adj" fmla="val 8000"/>
            </a:avLst>
          </a:prstGeom>
          <a:solidFill>
            <a:srgbClr val="EAF3E0"/>
          </a:solidFill>
          <a:ln w="9525">
            <a:solidFill>
              <a:srgbClr val="5C8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38360" y="233172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5C8A3B"/>
                </a:solidFill>
                <a:latin typeface="Calibri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8360" y="2697480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5C8A3B"/>
                </a:solidFill>
                <a:latin typeface="Calibri Light"/>
              </a:rPr>
              <a:t>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3520440"/>
            <a:ext cx="16002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F3A5F"/>
                </a:solidFill>
                <a:latin typeface="Calibri"/>
              </a:rPr>
              <a:t>+ full artifact 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034" y="211663"/>
            <a:ext cx="1932280" cy="5163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3093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52120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22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F3A5F"/>
                </a:solidFill>
                <a:latin typeface="Calibri Light"/>
              </a:rPr>
              <a:t>Built on the tools already in this repo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35204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783080"/>
            <a:ext cx="3520440" cy="4572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04872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Claude Code subagents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C6E87"/>
                </a:solidFill>
                <a:latin typeface="Calibri"/>
              </a:rPr>
              <a:t>.claude/agents/*.md — qa-analyst + 3 specialist siblings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64408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Agent tool delegation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57016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C6E87"/>
                </a:solidFill>
                <a:latin typeface="Calibri"/>
              </a:rPr>
              <a:t>qa-analyst never writes spec/wrapper/page-object code itself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783080"/>
            <a:ext cx="35204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51960" y="1783080"/>
            <a:ext cx="3520440" cy="4572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Test 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404872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Playwright + TypeScript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697480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C6E87"/>
                </a:solidFill>
                <a:latin typeface="Calibri"/>
              </a:rPr>
              <a:t>API: wrapper-class + JSON-fixture + template-assertion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264408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C6E87"/>
                </a:solidFill>
                <a:latin typeface="Calibri"/>
              </a:rPr>
              <a:t>UI: Page Object Model, Data Factory, Builder, Facade, 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831336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Tags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123944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C6E87"/>
                </a:solidFill>
                <a:latin typeface="Calibri"/>
              </a:rPr>
              <a:t>@smoke / @sanity / @regression on every automated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690872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Playwright CLI + MCP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983480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C6E87"/>
                </a:solidFill>
                <a:latin typeface="Calibri"/>
              </a:rPr>
              <a:t>CLI for scripted headless runs, MCP for live discovery/repro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9560" y="1783080"/>
            <a:ext cx="35204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09560" y="1783080"/>
            <a:ext cx="3520440" cy="4572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Integrations &amp; config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2404872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Jira REST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2697480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C6E87"/>
                </a:solidFill>
                <a:latin typeface="Calibri"/>
              </a:rPr>
              <a:t>Epic → Story → Task → Sub-task, plus draft bug filing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3264408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Figma REST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3557016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C6E87"/>
                </a:solidFill>
                <a:latin typeface="Calibri"/>
              </a:rPr>
              <a:t>Design-vs-build parity check at the deployment 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4123944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config/qa-agent.config.json + .env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4416552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C6E87"/>
                </a:solidFill>
                <a:latin typeface="Calibri"/>
              </a:rPr>
              <a:t>URLs, environments, seeding paths, tokens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0807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5C6E87"/>
                </a:solidFill>
                <a:latin typeface="Calibri"/>
              </a:rPr>
              <a:t>Test pyramid target: 60–70% API · 20–30% UI · 5–10% manual E2E — enforced, not aspirational.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15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92608"/>
            <a:ext cx="1920240" cy="51310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58521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47548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THE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 Light"/>
              </a:rPr>
              <a:t>Seven steps, executed in order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1572768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1572768" cy="50292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96311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F3A5F"/>
                </a:solidFill>
                <a:latin typeface="Calibri"/>
              </a:rPr>
              <a:t>Plan &amp;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72967"/>
            <a:ext cx="138988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30" b="0" i="0">
                <a:solidFill>
                  <a:srgbClr val="5C6E87"/>
                </a:solidFill>
                <a:latin typeface="Calibri"/>
              </a:rPr>
              <a:t>Fetch Epic + every Story/Task/Sub-task; delegate test cases to qa-test-designer</a:t>
            </a:r>
          </a:p>
        </p:txBody>
      </p:sp>
      <p:sp>
        <p:nvSpPr>
          <p:cNvPr id="11" name="Chevron 10"/>
          <p:cNvSpPr/>
          <p:nvPr/>
        </p:nvSpPr>
        <p:spPr>
          <a:xfrm>
            <a:off x="2057400" y="3703319"/>
            <a:ext cx="128016" cy="274320"/>
          </a:xfrm>
          <a:prstGeom prst="chevron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148840" y="1874519"/>
            <a:ext cx="1572768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148840" y="1874519"/>
            <a:ext cx="1572768" cy="502920"/>
          </a:xfrm>
          <a:prstGeom prst="rect">
            <a:avLst/>
          </a:prstGeom>
          <a:solidFill>
            <a:srgbClr val="B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496311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F3A5F"/>
                </a:solidFill>
                <a:latin typeface="Calibri"/>
              </a:rPr>
              <a:t>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172967"/>
            <a:ext cx="138988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30" b="0" i="0">
                <a:solidFill>
                  <a:srgbClr val="5C6E87"/>
                </a:solidFill>
                <a:latin typeface="Calibri"/>
              </a:rPr>
              <a:t>Environment up? Changes deployed? Figma matches build? Hard blocker if not.</a:t>
            </a:r>
          </a:p>
        </p:txBody>
      </p:sp>
      <p:sp>
        <p:nvSpPr>
          <p:cNvPr id="16" name="Chevron 15"/>
          <p:cNvSpPr/>
          <p:nvPr/>
        </p:nvSpPr>
        <p:spPr>
          <a:xfrm>
            <a:off x="3703320" y="3703319"/>
            <a:ext cx="128016" cy="274320"/>
          </a:xfrm>
          <a:prstGeom prst="chevron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794760" y="1874519"/>
            <a:ext cx="1572768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794760" y="1874519"/>
            <a:ext cx="1572768" cy="50292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2496311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F3A5F"/>
                </a:solidFill>
                <a:latin typeface="Calibri"/>
              </a:rPr>
              <a:t>Seed + capture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3172967"/>
            <a:ext cx="138988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30" b="0" i="0">
                <a:solidFill>
                  <a:srgbClr val="5C6E87"/>
                </a:solidFill>
                <a:latin typeface="Calibri"/>
              </a:rPr>
              <a:t>Script all seed data; capture every network call the app makes</a:t>
            </a:r>
          </a:p>
        </p:txBody>
      </p:sp>
      <p:sp>
        <p:nvSpPr>
          <p:cNvPr id="21" name="Chevron 20"/>
          <p:cNvSpPr/>
          <p:nvPr/>
        </p:nvSpPr>
        <p:spPr>
          <a:xfrm>
            <a:off x="5349240" y="3703319"/>
            <a:ext cx="128016" cy="274320"/>
          </a:xfrm>
          <a:prstGeom prst="chevron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440680" y="1874519"/>
            <a:ext cx="1572768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40680" y="1874519"/>
            <a:ext cx="1572768" cy="50292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2496311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F3A5F"/>
                </a:solidFill>
                <a:latin typeface="Calibri"/>
              </a:rPr>
              <a:t>Script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3172967"/>
            <a:ext cx="138988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30" b="0" i="0">
                <a:solidFill>
                  <a:srgbClr val="5C6E87"/>
                </a:solidFill>
                <a:latin typeface="Calibri"/>
              </a:rPr>
              <a:t>Delegate to api- / ui-automation-architect using captured shapes</a:t>
            </a:r>
          </a:p>
        </p:txBody>
      </p:sp>
      <p:sp>
        <p:nvSpPr>
          <p:cNvPr id="26" name="Chevron 25"/>
          <p:cNvSpPr/>
          <p:nvPr/>
        </p:nvSpPr>
        <p:spPr>
          <a:xfrm>
            <a:off x="6995160" y="3703319"/>
            <a:ext cx="128016" cy="274320"/>
          </a:xfrm>
          <a:prstGeom prst="chevron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086600" y="1874519"/>
            <a:ext cx="1572768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086600" y="1874519"/>
            <a:ext cx="1572768" cy="50292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2496311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F3A5F"/>
                </a:solidFill>
                <a:latin typeface="Calibri"/>
              </a:rPr>
              <a:t>Execute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172967"/>
            <a:ext cx="138988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30" b="0" i="0">
                <a:solidFill>
                  <a:srgbClr val="5C6E87"/>
                </a:solidFill>
                <a:latin typeface="Calibri"/>
              </a:rPr>
              <a:t>Impacted tests only, one retry, no loops</a:t>
            </a:r>
          </a:p>
        </p:txBody>
      </p:sp>
      <p:sp>
        <p:nvSpPr>
          <p:cNvPr id="31" name="Chevron 30"/>
          <p:cNvSpPr/>
          <p:nvPr/>
        </p:nvSpPr>
        <p:spPr>
          <a:xfrm>
            <a:off x="8641080" y="3703319"/>
            <a:ext cx="128016" cy="274320"/>
          </a:xfrm>
          <a:prstGeom prst="chevron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732520" y="1874519"/>
            <a:ext cx="1572768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732520" y="1874519"/>
            <a:ext cx="1572768" cy="50292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2496311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F3A5F"/>
                </a:solidFill>
                <a:latin typeface="Calibri"/>
              </a:rPr>
              <a:t>Analyze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3172967"/>
            <a:ext cx="138988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30" b="0" i="0">
                <a:solidFill>
                  <a:srgbClr val="5C6E87"/>
                </a:solidFill>
                <a:latin typeface="Calibri"/>
              </a:rPr>
              <a:t>Automation defect vs. genuine deviation, per failure</a:t>
            </a:r>
          </a:p>
        </p:txBody>
      </p:sp>
      <p:sp>
        <p:nvSpPr>
          <p:cNvPr id="36" name="Chevron 35"/>
          <p:cNvSpPr/>
          <p:nvPr/>
        </p:nvSpPr>
        <p:spPr>
          <a:xfrm>
            <a:off x="10287000" y="3703319"/>
            <a:ext cx="128016" cy="274320"/>
          </a:xfrm>
          <a:prstGeom prst="chevron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0378440" y="1874519"/>
            <a:ext cx="1572768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0378440" y="1874519"/>
            <a:ext cx="1572768" cy="50292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69880" y="2496311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F3A5F"/>
                </a:solidFill>
                <a:latin typeface="Calibri"/>
              </a:rPr>
              <a:t>Report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9880" y="3172967"/>
            <a:ext cx="138988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30" b="0" i="0">
                <a:solidFill>
                  <a:srgbClr val="5C6E87"/>
                </a:solidFill>
                <a:latin typeface="Calibri"/>
              </a:rPr>
              <a:t>report.md + execution-summary.md + draft Jira bugs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5989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5C6E87"/>
                </a:solidFill>
                <a:latin typeface="Calibri"/>
              </a:rPr>
              <a:t>A blocked gate (step 2) stops everything downstream — no fabricated results past a blocker.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04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92608"/>
            <a:ext cx="1920240" cy="51310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DELEGATION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 Light"/>
              </a:rPr>
              <a:t>One orchestrator, three specialists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36192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5C6E87"/>
                </a:solidFill>
                <a:latin typeface="Calibri"/>
              </a:rPr>
              <a:t>qa-analyst owns the process. Each sibling agent owns one discipline's depth, so the rules live in exactly one place.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306324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 Light"/>
              </a:rPr>
              <a:t>qa-analyst</a:t>
            </a:r>
          </a:p>
          <a:p>
            <a:pPr algn="ctr"/>
            <a:r>
              <a:rPr sz="1050">
                <a:solidFill>
                  <a:srgbClr val="A9BBD1"/>
                </a:solidFill>
                <a:latin typeface="Calibri"/>
              </a:rPr>
              <a:t>plan · gate · seed · execute · report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86000"/>
            <a:ext cx="27432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4672" y="2432304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/>
          <a:lstStyle/>
          <a:p>
            <a:pPr algn="ctr"/>
            <a:r>
              <a:rPr sz="1000" b="1">
                <a:solidFill>
                  <a:srgbClr val="2E6FB5"/>
                </a:solidFill>
                <a:latin typeface="Calibri"/>
              </a:rPr>
              <a:t>Test case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788920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onsolas"/>
              </a:rPr>
              <a:t>qa-test-designer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154680"/>
            <a:ext cx="2423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C6E87"/>
                </a:solidFill>
                <a:latin typeface="Calibri"/>
              </a:rPr>
              <a:t>Happy path · negative · boundary · edge · integration · non-functional. AC-coverage traceability. Produces qa/test-cases.md.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34840"/>
            <a:ext cx="27432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4672" y="4581144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/>
          <a:lstStyle/>
          <a:p>
            <a:pPr algn="ctr"/>
            <a:r>
              <a:rPr sz="1000" b="1">
                <a:solidFill>
                  <a:srgbClr val="2E6FB5"/>
                </a:solidFill>
                <a:latin typeface="Calibri"/>
              </a:rPr>
              <a:t>API scripts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937760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onsolas"/>
              </a:rPr>
              <a:t>api-automation-architect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5303520"/>
            <a:ext cx="2423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C6E87"/>
                </a:solidFill>
                <a:latin typeface="Calibri"/>
              </a:rPr>
              <a:t>Wrapper-class + JSON-fixture + template-assertion pattern for spec/api/, libs/, test_data/.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2286000"/>
            <a:ext cx="27432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988552" y="2432304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/>
          <a:lstStyle/>
          <a:p>
            <a:pPr algn="ctr"/>
            <a:r>
              <a:rPr sz="1000" b="1">
                <a:solidFill>
                  <a:srgbClr val="2E6FB5"/>
                </a:solidFill>
                <a:latin typeface="Calibri"/>
              </a:rPr>
              <a:t>UI scripts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8552" y="2788920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onsolas"/>
              </a:rPr>
              <a:t>ui-automation-architect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3154680"/>
            <a:ext cx="2423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C6E87"/>
                </a:solidFill>
                <a:latin typeface="Calibri"/>
              </a:rPr>
              <a:t>Page Object Model, Data Factory, Builder, Facade, Strategy for browser-driven specs.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383280" y="3108960"/>
            <a:ext cx="1325880" cy="137160"/>
          </a:xfrm>
          <a:prstGeom prst="line">
            <a:avLst/>
          </a:prstGeom>
          <a:ln w="15875">
            <a:solidFill>
              <a:srgbClr val="DC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383280" y="3794760"/>
            <a:ext cx="1325880" cy="1051560"/>
          </a:xfrm>
          <a:prstGeom prst="line">
            <a:avLst/>
          </a:prstGeom>
          <a:ln w="15875">
            <a:solidFill>
              <a:srgbClr val="DC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452360" y="3108960"/>
            <a:ext cx="1371600" cy="137160"/>
          </a:xfrm>
          <a:prstGeom prst="line">
            <a:avLst/>
          </a:prstGeom>
          <a:ln w="15875">
            <a:solidFill>
              <a:srgbClr val="DC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05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92608"/>
            <a:ext cx="1920240" cy="51310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3093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52120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API-AUTOMATION-ARCHITECT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22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F3A5F"/>
                </a:solidFill>
                <a:latin typeface="Calibri Light"/>
              </a:rPr>
              <a:t>API layer: one wrapper class per domain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4572000" cy="233172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AADC8"/>
                </a:solidFill>
                <a:latin typeface="Calibri"/>
              </a:rPr>
              <a:t>PROJECT LAYOUT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AADC8"/>
                </a:solidFill>
                <a:latin typeface="Consolas"/>
              </a:rPr>
              <a:t>config/hosts.json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33172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C9D6E6"/>
                </a:solidFill>
                <a:latin typeface="Calibri"/>
              </a:rPr>
              <a:t>base URLs per env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42616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AADC8"/>
                </a:solidFill>
                <a:latin typeface="Consolas"/>
              </a:rPr>
              <a:t>libs/&lt;domain&gt;.ts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642616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C9D6E6"/>
                </a:solidFill>
                <a:latin typeface="Calibri"/>
              </a:rPr>
              <a:t>wrapper class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53512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AADC8"/>
                </a:solidFill>
                <a:latin typeface="Consolas"/>
              </a:rPr>
              <a:t>libs/utils/requests.ts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953512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C9D6E6"/>
                </a:solidFill>
                <a:latin typeface="Calibri"/>
              </a:rPr>
              <a:t>sendGet/Post/Put/Delete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64408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AADC8"/>
                </a:solidFill>
                <a:latin typeface="Consolas"/>
              </a:rPr>
              <a:t>libs/utils/assertions.ts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264408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C9D6E6"/>
                </a:solidFill>
                <a:latin typeface="Calibri"/>
              </a:rPr>
              <a:t>verifyResponseTemplate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575304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AADC8"/>
                </a:solidFill>
                <a:latin typeface="Consolas"/>
              </a:rPr>
              <a:t>test_data/&lt;domain&gt;/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575304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C9D6E6"/>
                </a:solidFill>
                <a:latin typeface="Calibri"/>
              </a:rPr>
              <a:t>request + response fixtures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88620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AADC8"/>
                </a:solidFill>
                <a:latin typeface="Consolas"/>
              </a:rPr>
              <a:t>spec/api/&lt;domain&gt;.spec.ts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88620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C9D6E6"/>
                </a:solidFill>
                <a:latin typeface="Calibri"/>
              </a:rPr>
              <a:t>test file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251960"/>
            <a:ext cx="457200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4348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E6FB5"/>
                </a:solidFill>
                <a:latin typeface="Calibri"/>
              </a:rPr>
              <a:t>WRAPPER-CLASS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736592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>
                <a:solidFill>
                  <a:srgbClr val="1F3A5F"/>
                </a:solidFill>
                <a:latin typeface="Calibri"/>
              </a:rPr>
              <a:t>›  Constructor takes optional context + baseUrl; lazy async init if none passed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>
                <a:solidFill>
                  <a:srgbClr val="1F3A5F"/>
                </a:solidFill>
                <a:latin typeface="Calibri"/>
              </a:rPr>
              <a:t>›  Every public method starts with await this.ensureContext()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>
                <a:solidFill>
                  <a:srgbClr val="1F3A5F"/>
                </a:solidFill>
                <a:latin typeface="Calibri"/>
              </a:rPr>
              <a:t>›  Re-init context after auth, to inject the token into headers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94960" y="1783080"/>
            <a:ext cx="6217920" cy="4389120"/>
          </a:xfrm>
          <a:prstGeom prst="roundRect">
            <a:avLst>
              <a:gd name="adj" fmla="val 8000"/>
            </a:avLst>
          </a:prstGeom>
          <a:solidFill>
            <a:srgbClr val="E3ECF6"/>
          </a:solidFill>
          <a:ln w="9525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23560" y="196596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2E6FB5"/>
                </a:solidFill>
                <a:latin typeface="Calibri"/>
              </a:rPr>
              <a:t>TEMPLATE-BASED ASSERTIONS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23560" y="2395728"/>
            <a:ext cx="5760720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60720" y="2468880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onsolas"/>
              </a:rPr>
              <a:t>"skip"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2468880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C6E87"/>
                </a:solidFill>
                <a:latin typeface="Calibri"/>
              </a:rPr>
              <a:t>Ignore field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23560" y="2880360"/>
            <a:ext cx="5760720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60720" y="2953512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onsolas"/>
              </a:rPr>
              <a:t>"should_not_be_null"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2953512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C6E87"/>
                </a:solidFill>
                <a:latin typeface="Calibri"/>
              </a:rPr>
              <a:t>Exists, not null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23560" y="3364992"/>
            <a:ext cx="5760720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760720" y="3438144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onsolas"/>
              </a:rPr>
              <a:t>"only_chars" / "only_digits"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3438144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C6E87"/>
                </a:solidFill>
                <a:latin typeface="Calibri"/>
              </a:rPr>
              <a:t>Regex-shape check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23560" y="3849624"/>
            <a:ext cx="5760720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760720" y="3922776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onsolas"/>
              </a:rPr>
              <a:t>"match_regex:/pattern/"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3922776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C6E87"/>
                </a:solidFill>
                <a:latin typeface="Calibri"/>
              </a:rPr>
              <a:t>Custom regex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23560" y="4334256"/>
            <a:ext cx="5760720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760720" y="4407408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onsolas"/>
              </a:rPr>
              <a:t>literal value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4407408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C6E87"/>
                </a:solidFill>
                <a:latin typeface="Calibri"/>
              </a:rPr>
              <a:t>Exact equality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23560" y="4892040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2E6FB5"/>
                </a:solidFill>
                <a:latin typeface="Calibri"/>
              </a:rPr>
              <a:t>BEST PRACTICES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23560" y="5193792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1F3A5F"/>
                </a:solidFill>
                <a:latin typeface="Calibri"/>
              </a:rPr>
              <a:t>›  Fresh, independent test data per test — no shared state across tests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1F3A5F"/>
                </a:solidFill>
                <a:latin typeface="Calibri"/>
              </a:rPr>
              <a:t>›  Negative cases pass failOnStatusCode=false, then assert the error status directly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1F3A5F"/>
                </a:solidFill>
                <a:latin typeface="Calibri"/>
              </a:rPr>
              <a:t>›  New domain checklist: host entry → wrapper class → fixtures → spec → run to 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06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92608"/>
            <a:ext cx="1920240" cy="51310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3093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52120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UI-AUTOMATION-ARCHITECT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22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A5F"/>
                </a:solidFill>
                <a:latin typeface="Calibri Light"/>
              </a:rPr>
              <a:t>UI layer: five patterns, applied only where earned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108813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77240" y="2002536"/>
            <a:ext cx="457200" cy="45720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874520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Page Object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203704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2E6FB5"/>
                </a:solidFill>
                <a:latin typeface="Consolas"/>
              </a:rPr>
              <a:t>pages/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1920240"/>
            <a:ext cx="7452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5C6E87"/>
                </a:solidFill>
                <a:latin typeface="Calibri"/>
              </a:rPr>
              <a:t>One class per file, PascalCase matching the filename. Methods named for user intent (proceedToCheckout), not the locator. data-test/data-testid first, getByRole/getByLabel fallback.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679192"/>
            <a:ext cx="10881360" cy="896112"/>
          </a:xfrm>
          <a:prstGeom prst="rect">
            <a:avLst/>
          </a:prstGeom>
          <a:solidFill>
            <a:srgbClr val="F1F4F9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77240" y="2898648"/>
            <a:ext cx="457200" cy="45720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770632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Data Factory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099816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2E6FB5"/>
                </a:solidFill>
                <a:latin typeface="Consolas"/>
              </a:rPr>
              <a:t>factories/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2816352"/>
            <a:ext cx="7452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5C6E87"/>
                </a:solidFill>
                <a:latin typeface="Calibri"/>
              </a:rPr>
              <a:t>One function per domain, typed return composed from page-object interfaces. Deterministic fixtures — no faker unless explicitly asked.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575304"/>
            <a:ext cx="108813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77240" y="3794760"/>
            <a:ext cx="457200" cy="45720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666744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Builder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995928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2E6FB5"/>
                </a:solidFill>
                <a:latin typeface="Consolas"/>
              </a:rPr>
              <a:t>factories/&lt;Type&gt;Builder.ts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3712464"/>
            <a:ext cx="7452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5C6E87"/>
                </a:solidFill>
                <a:latin typeface="Calibri"/>
              </a:rPr>
              <a:t>Fluent, chainable, for objects with 4+ optional fields tests vary. build() always returns a fresh copy, never the mutable internal state.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4471416"/>
            <a:ext cx="10881360" cy="896112"/>
          </a:xfrm>
          <a:prstGeom prst="rect">
            <a:avLst/>
          </a:prstGeom>
          <a:solidFill>
            <a:srgbClr val="F1F4F9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77240" y="4690872"/>
            <a:ext cx="457200" cy="45720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562856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Facade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89204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2E6FB5"/>
                </a:solidFill>
                <a:latin typeface="Consolas"/>
              </a:rPr>
              <a:t>facades/&lt;Feature&gt;Facade.ts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4608576"/>
            <a:ext cx="7452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5C6E87"/>
                </a:solidFill>
                <a:latin typeface="Calibri"/>
              </a:rPr>
              <a:t>For specs chaining 3+ page objects into one workflow. Named for the workflow (completeGuestCheckout), constructor-injected page objects.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367528"/>
            <a:ext cx="108813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77240" y="5586984"/>
            <a:ext cx="457200" cy="45720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458968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Strategy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788152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2E6FB5"/>
                </a:solidFill>
                <a:latin typeface="Consolas"/>
              </a:rPr>
              <a:t>strategies/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5504688"/>
            <a:ext cx="7452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5C6E87"/>
                </a:solidFill>
                <a:latin typeface="Calibri"/>
              </a:rPr>
              <a:t>Only when 2+ interchangeable behaviors genuinely exist today (e.g. environment or auth method) — never a one-implementation abstraction.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2636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1">
                <a:solidFill>
                  <a:srgbClr val="B85A2E"/>
                </a:solidFill>
                <a:latin typeface="Calibri"/>
              </a:rPr>
              <a:t>Introduce Builder/Facade/Strategy only when the pattern is earned by real duplication — never as speculative abstraction ahead of need.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07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92608"/>
            <a:ext cx="1920240" cy="51310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STEP 01 — PLAN &amp;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F3A5F"/>
                </a:solidFill>
                <a:latin typeface="Calibri Light"/>
              </a:rPr>
              <a:t>Every Story, every Sub-task. No sampling.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539496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E6FB5"/>
                </a:solidFill>
                <a:latin typeface="Calibri"/>
              </a:rPr>
              <a:t>qa-analyst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48920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F3A5F"/>
                </a:solidFill>
                <a:latin typeface="Calibri"/>
              </a:rPr>
              <a:t>›  Enumerate the Epic + every linked Story/Task/Sub-task exhaustively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F3A5F"/>
                </a:solidFill>
                <a:latin typeface="Calibri"/>
              </a:rPr>
              <a:t>›  Pull Figma frame data for later parity checks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F3A5F"/>
                </a:solidFill>
                <a:latin typeface="Calibri"/>
              </a:rPr>
              <a:t>›  Author test-plan.md itself: scope, environments, entry/exit criteria, risk, target test-pyramid mix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F3A5F"/>
                </a:solidFill>
                <a:latin typeface="Calibri"/>
              </a:rPr>
              <a:t>›  Fold qa-test-designer's output into test-cases.md, update-in-place on reruns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349240" cy="4297680"/>
          </a:xfrm>
          <a:prstGeom prst="roundRect">
            <a:avLst>
              <a:gd name="adj" fmla="val 8000"/>
            </a:avLst>
          </a:prstGeom>
          <a:solidFill>
            <a:srgbClr val="E3ECF6"/>
          </a:solidFill>
          <a:ln w="9525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205740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E6FB5"/>
                </a:solidFill>
                <a:latin typeface="Calibri"/>
              </a:rPr>
              <a:t>qa-test-designer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42316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F3A5F"/>
                </a:solidFill>
                <a:latin typeface="Calibri"/>
              </a:rPr>
              <a:t>›  Applies every design technique: happy path, negative, boundary value, edge case, integration, non-functional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F3A5F"/>
                </a:solidFill>
                <a:latin typeface="Calibri"/>
              </a:rPr>
              <a:t>›  Targets the 60-70/20-30/5-10 test-pyramid mix when typing each case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F3A5F"/>
                </a:solidFill>
                <a:latin typeface="Calibri"/>
              </a:rPr>
              <a:t>›  Every AC gets at least one happy path AND one negative scenario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F3A5F"/>
                </a:solidFill>
                <a:latin typeface="Calibri"/>
              </a:rPr>
              <a:t>›  Ambiguous ACs → scenarios for both interpretations, marked [ASSUMPTION]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08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92608"/>
            <a:ext cx="1920240" cy="51310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STEP 02 —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F3A5F"/>
                </a:solidFill>
                <a:latin typeface="Calibri Light"/>
              </a:rPr>
              <a:t>If it's not really there, nothing downstream is real either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65379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22960" y="2185416"/>
            <a:ext cx="420624" cy="420624"/>
          </a:xfrm>
          <a:prstGeom prst="ellipse">
            <a:avLst/>
          </a:prstGeom>
          <a:solidFill>
            <a:srgbClr val="EAF3E0"/>
          </a:solidFill>
          <a:ln w="15875">
            <a:solidFill>
              <a:srgbClr val="5C8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5C8A3B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0756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1F3A5F"/>
                </a:solidFill>
                <a:latin typeface="Calibri"/>
              </a:rPr>
              <a:t>Environment up?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40487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5C6E87"/>
                </a:solidFill>
                <a:latin typeface="Calibri"/>
              </a:rPr>
              <a:t>API health/status endpoint + live browser_navigate / browser_snapshot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017520"/>
            <a:ext cx="65379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22960" y="3236976"/>
            <a:ext cx="420624" cy="420624"/>
          </a:xfrm>
          <a:prstGeom prst="ellipse">
            <a:avLst/>
          </a:prstGeom>
          <a:solidFill>
            <a:srgbClr val="EAF3E0"/>
          </a:solidFill>
          <a:ln w="15875">
            <a:solidFill>
              <a:srgbClr val="5C8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5C8A3B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12724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1F3A5F"/>
                </a:solidFill>
                <a:latin typeface="Calibri"/>
              </a:rPr>
              <a:t>Changes deployed?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45643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5C6E87"/>
                </a:solidFill>
                <a:latin typeface="Calibri"/>
              </a:rPr>
              <a:t>Jira fix-version, release marker, or a live smoke check against the AC itself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069080"/>
            <a:ext cx="65379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2960" y="4288536"/>
            <a:ext cx="420624" cy="420624"/>
          </a:xfrm>
          <a:prstGeom prst="ellipse">
            <a:avLst/>
          </a:prstGeom>
          <a:solidFill>
            <a:srgbClr val="EAF3E0"/>
          </a:solidFill>
          <a:ln w="15875">
            <a:solidFill>
              <a:srgbClr val="5C8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5C8A3B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17880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1F3A5F"/>
                </a:solidFill>
                <a:latin typeface="Calibri"/>
              </a:rPr>
              <a:t>Figma matches build?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0799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5C6E87"/>
                </a:solidFill>
                <a:latin typeface="Calibri"/>
              </a:rPr>
              <a:t>If frames were linked in step 1 — compare structure, copy, layout live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1965960"/>
            <a:ext cx="4160520" cy="416052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26679" y="221284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F2A982"/>
                </a:solidFill>
                <a:latin typeface="Calibri"/>
              </a:rPr>
              <a:t>HARD BLOCKER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2651760"/>
            <a:ext cx="36118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 i="0">
                <a:solidFill>
                  <a:srgbClr val="FFFFFF"/>
                </a:solidFill>
                <a:latin typeface="Calibri"/>
              </a:rPr>
              <a:t>Environment down, or changes not present →
STOP. Report the blocker plainly: what's missing, what was checked, what unblocks it.
No fabricated results past this point.
A Figma discrepancy alone is not a blocker — log it, keep going.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09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60808" y="0"/>
            <a:ext cx="12191695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92608"/>
            <a:ext cx="1920240" cy="51310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TEST PYRAMID 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 Light"/>
              </a:rPr>
              <a:t>Push coverage down the stack, not up</a:t>
            </a:r>
          </a:p>
        </p:txBody>
      </p:sp>
      <p:sp>
        <p:nvSpPr>
          <p:cNvPr id="7" name="Trapezoid 6"/>
          <p:cNvSpPr/>
          <p:nvPr/>
        </p:nvSpPr>
        <p:spPr>
          <a:xfrm>
            <a:off x="365760" y="1590548"/>
            <a:ext cx="5852160" cy="768096"/>
          </a:xfrm>
          <a:prstGeom prst="trapezoid">
            <a:avLst/>
          </a:prstGeom>
          <a:solidFill>
            <a:srgbClr val="EAF3E0"/>
          </a:solidFill>
          <a:ln w="19050">
            <a:solidFill>
              <a:srgbClr val="5C8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>
                <a:solidFill>
                  <a:srgbClr val="5C8A3B"/>
                </a:solidFill>
                <a:latin typeface="Calibri"/>
              </a:rPr>
              <a:t>60–70% 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029968"/>
            <a:ext cx="4709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C6E87"/>
                </a:solidFill>
                <a:latin typeface="Calibri"/>
              </a:rPr>
              <a:t>Backend-verifiable behavior — including endpoints discovered only via network capture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181051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E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/>
          <a:lstStyle/>
          <a:p>
            <a:pPr algn="ctr"/>
            <a:r>
              <a:rPr sz="1050" b="1">
                <a:solidFill>
                  <a:srgbClr val="5C8A3B"/>
                </a:solidFill>
                <a:latin typeface="Calibri"/>
              </a:rPr>
              <a:t>API</a:t>
            </a:r>
          </a:p>
        </p:txBody>
      </p:sp>
      <p:sp>
        <p:nvSpPr>
          <p:cNvPr id="10" name="Trapezoid 9"/>
          <p:cNvSpPr/>
          <p:nvPr/>
        </p:nvSpPr>
        <p:spPr>
          <a:xfrm>
            <a:off x="1188720" y="2880360"/>
            <a:ext cx="4206240" cy="685800"/>
          </a:xfrm>
          <a:prstGeom prst="trapezoid">
            <a:avLst/>
          </a:prstGeom>
          <a:solidFill>
            <a:srgbClr val="E3ECF6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>
                <a:solidFill>
                  <a:srgbClr val="2E6FB5"/>
                </a:solidFill>
                <a:latin typeface="Calibri"/>
              </a:rPr>
              <a:t>20–30% 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3081528"/>
            <a:ext cx="4709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C6E87"/>
                </a:solidFill>
                <a:latin typeface="Calibri"/>
              </a:rPr>
              <a:t>Only what needs rendering/interaction: layout, validation messages, navigation, visual 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286207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/>
          <a:lstStyle/>
          <a:p>
            <a:pPr algn="ctr"/>
            <a:r>
              <a:rPr sz="1050" b="1">
                <a:solidFill>
                  <a:srgbClr val="2E6FB5"/>
                </a:solidFill>
                <a:latin typeface="Calibri"/>
              </a:rPr>
              <a:t>UI</a:t>
            </a:r>
          </a:p>
        </p:txBody>
      </p:sp>
      <p:sp>
        <p:nvSpPr>
          <p:cNvPr id="13" name="Trapezoid 12"/>
          <p:cNvSpPr/>
          <p:nvPr/>
        </p:nvSpPr>
        <p:spPr>
          <a:xfrm>
            <a:off x="2103120" y="4023360"/>
            <a:ext cx="2377440" cy="685800"/>
          </a:xfrm>
          <a:prstGeom prst="trapezoid">
            <a:avLst/>
          </a:prstGeom>
          <a:solidFill>
            <a:srgbClr val="FCEEE6"/>
          </a:solidFill>
          <a:ln w="19050">
            <a:solidFill>
              <a:srgbClr val="B85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>
                <a:solidFill>
                  <a:srgbClr val="B85A2E"/>
                </a:solidFill>
                <a:latin typeface="Calibri"/>
              </a:rPr>
              <a:t>5–10%  Manual E2E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4133088"/>
            <a:ext cx="4709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C6E87"/>
                </a:solidFill>
                <a:latin typeface="Calibri"/>
              </a:rPr>
              <a:t>High-value cross-system journeys — never automated, by design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391363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C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/>
          <a:lstStyle/>
          <a:p>
            <a:pPr algn="ctr"/>
            <a:r>
              <a:rPr sz="1050" b="1">
                <a:solidFill>
                  <a:srgbClr val="B85A2E"/>
                </a:solidFill>
                <a:latin typeface="Calibri"/>
              </a:rPr>
              <a:t>Manual E2E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85216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1">
                <a:solidFill>
                  <a:srgbClr val="5C6E87"/>
                </a:solidFill>
                <a:latin typeface="Calibri"/>
              </a:rPr>
              <a:t>If an Epic genuinely can't hit this ratio (e.g. UI-only, no API surface), qa-analyst says so explicitly — it never forces a case into the wrong layer just to hit the number.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10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92608"/>
            <a:ext cx="1920240" cy="51310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STEPS 03–04 — SEED, CAPTURE, 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F3A5F"/>
                </a:solidFill>
                <a:latin typeface="Calibri Light"/>
              </a:rPr>
              <a:t>The network tab becomes a test-generation source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03120"/>
            <a:ext cx="260604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77240" y="2331720"/>
            <a:ext cx="457200" cy="45720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F3A5F"/>
                </a:solidFill>
                <a:latin typeface="Calibri"/>
              </a:rPr>
              <a:t>Seed via 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20440"/>
            <a:ext cx="2286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5C6E87"/>
                </a:solidFill>
                <a:latin typeface="Calibri"/>
              </a:rPr>
              <a:t>API seeds compose the wrapper-class pattern; UI seeds walked live via MCP, then encoded as a script — never a one-off manual run</a:t>
            </a:r>
          </a:p>
        </p:txBody>
      </p:sp>
      <p:sp>
        <p:nvSpPr>
          <p:cNvPr id="11" name="Chevron 10"/>
          <p:cNvSpPr/>
          <p:nvPr/>
        </p:nvSpPr>
        <p:spPr>
          <a:xfrm>
            <a:off x="3227832" y="3749039"/>
            <a:ext cx="146304" cy="320040"/>
          </a:xfrm>
          <a:prstGeom prst="chevron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383280" y="2103120"/>
            <a:ext cx="260604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566160" y="2331720"/>
            <a:ext cx="457200" cy="45720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92608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F3A5F"/>
                </a:solidFill>
                <a:latin typeface="Calibri"/>
              </a:rPr>
              <a:t>Capture network calls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520440"/>
            <a:ext cx="2286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5C6E87"/>
                </a:solidFill>
                <a:latin typeface="Calibri"/>
              </a:rPr>
              <a:t>browser_network_requests during seeding/execution → dedup by endpoint+method → network-capture.md</a:t>
            </a:r>
          </a:p>
        </p:txBody>
      </p:sp>
      <p:sp>
        <p:nvSpPr>
          <p:cNvPr id="16" name="Chevron 15"/>
          <p:cNvSpPr/>
          <p:nvPr/>
        </p:nvSpPr>
        <p:spPr>
          <a:xfrm>
            <a:off x="6016752" y="3749039"/>
            <a:ext cx="146304" cy="320040"/>
          </a:xfrm>
          <a:prstGeom prst="chevron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172200" y="2103120"/>
            <a:ext cx="260604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355080" y="2331720"/>
            <a:ext cx="457200" cy="45720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2608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F3A5F"/>
                </a:solidFill>
                <a:latin typeface="Calibri"/>
              </a:rPr>
              <a:t>Turn endpoints into API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520440"/>
            <a:ext cx="2286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5C6E87"/>
                </a:solidFill>
                <a:latin typeface="Calibri"/>
              </a:rPr>
              <a:t>Even endpoints the ticket never named get wrapper methods + fixtures from the real observed shapes</a:t>
            </a:r>
          </a:p>
        </p:txBody>
      </p:sp>
      <p:sp>
        <p:nvSpPr>
          <p:cNvPr id="21" name="Chevron 20"/>
          <p:cNvSpPr/>
          <p:nvPr/>
        </p:nvSpPr>
        <p:spPr>
          <a:xfrm>
            <a:off x="8805672" y="3749039"/>
            <a:ext cx="146304" cy="320040"/>
          </a:xfrm>
          <a:prstGeom prst="chevron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961120" y="2103120"/>
            <a:ext cx="260604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144000" y="2331720"/>
            <a:ext cx="457200" cy="45720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92608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F3A5F"/>
                </a:solidFill>
                <a:latin typeface="Calibri"/>
              </a:rPr>
              <a:t>Delegate remaining scripts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520440"/>
            <a:ext cx="2286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5C6E87"/>
                </a:solidFill>
                <a:latin typeface="Calibri"/>
              </a:rPr>
              <a:t>UI-typed cases → ui-automation-architect; every touched file logged in script-changes.md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11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92608"/>
            <a:ext cx="1920240" cy="51310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STEPS 05–06 — EXECUTE &amp; ANALYZE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3A5F"/>
                </a:solidFill>
                <a:latin typeface="Calibri Light"/>
              </a:rPr>
              <a:t>Impacted only. Retry once. Then it's a finding, not a loop.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20240"/>
            <a:ext cx="548640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E6FB5"/>
                </a:solidFill>
                <a:latin typeface="Calibri"/>
              </a:rPr>
              <a:t>Execution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00" b="1">
                <a:solidFill>
                  <a:srgbClr val="2E6FB5"/>
                </a:solidFill>
                <a:latin typeface="Calibri"/>
              </a:rPr>
              <a:t>Scope  </a:t>
            </a:r>
            <a:r>
              <a:rPr sz="1400">
                <a:solidFill>
                  <a:srgbClr val="1F3A5F"/>
                </a:solidFill>
                <a:latin typeface="Calibri"/>
              </a:rPr>
              <a:t>Only specs impacted by this Epic/Story — never the full suite, never unrelated pre-existing specs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00" b="1">
                <a:solidFill>
                  <a:srgbClr val="2E6FB5"/>
                </a:solidFill>
                <a:latin typeface="Calibri"/>
              </a:rPr>
              <a:t>Retry  </a:t>
            </a:r>
            <a:r>
              <a:rPr sz="1400">
                <a:solidFill>
                  <a:srgbClr val="1F3A5F"/>
                </a:solidFill>
                <a:latin typeface="Calibri"/>
              </a:rPr>
              <a:t>At most one retry on failure, plus at most one considered fix-and-retry for obvious defects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00" b="1">
                <a:solidFill>
                  <a:srgbClr val="2E6FB5"/>
                </a:solidFill>
                <a:latin typeface="Calibri"/>
              </a:rPr>
              <a:t>After that  </a:t>
            </a:r>
            <a:r>
              <a:rPr sz="1400">
                <a:solidFill>
                  <a:srgbClr val="1F3A5F"/>
                </a:solidFill>
                <a:latin typeface="Calibri"/>
              </a:rPr>
              <a:t>Still failing? Treat as a possible genuine application issue — carry into analysis, stop debugging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00" b="1">
                <a:solidFill>
                  <a:srgbClr val="2E6FB5"/>
                </a:solidFill>
                <a:latin typeface="Calibri"/>
              </a:rPr>
              <a:t>Manual scenarios  </a:t>
            </a:r>
            <a:r>
              <a:rPr sz="1400">
                <a:solidFill>
                  <a:srgbClr val="1F3A5F"/>
                </a:solidFill>
                <a:latin typeface="Calibri"/>
              </a:rPr>
              <a:t>Walked live via MCP where feasible, clearly labeled — never claimed as automated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920240"/>
            <a:ext cx="5257800" cy="420624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214884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6AADC8"/>
                </a:solidFill>
                <a:latin typeface="Calibri"/>
              </a:rPr>
              <a:t>Every failure gets one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06040"/>
            <a:ext cx="4663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Calibri Light"/>
              </a:rPr>
              <a:t>Automation defect,
or genuine deviation?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703320"/>
            <a:ext cx="46634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C9D6E6"/>
                </a:solidFill>
                <a:latin typeface="Calibri"/>
              </a:rPr>
              <a:t>Bad selector, stale fixture, timing → automation defect, fixed in place.
Behavior contradicts the Epic/Story's actual acceptance criterion → genuine deviation, goes to the report and a bug draft.
Never lumped together. Never silently reclassified to make numbers look better.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12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92608"/>
            <a:ext cx="1920240" cy="51310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STEP 07 — ARTIFACTS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A5F"/>
                </a:solidFill>
                <a:latin typeface="Calibri Light"/>
              </a:rPr>
              <a:t>qa-artifacts/&lt;KEY&gt;/ — everything, checked in, verified on disk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874519"/>
            <a:ext cx="10881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96595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E6FB5"/>
                </a:solidFill>
                <a:latin typeface="Consolas"/>
              </a:rPr>
              <a:t>test-plan.md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984247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/>
          <a:lstStyle/>
          <a:p>
            <a:pPr algn="ctr"/>
            <a:r>
              <a:rPr sz="1000" b="1">
                <a:solidFill>
                  <a:srgbClr val="2E6FB5"/>
                </a:solidFill>
                <a:latin typeface="Calibri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965959"/>
            <a:ext cx="6720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C6E87"/>
                </a:solidFill>
                <a:latin typeface="Calibri"/>
              </a:rPr>
              <a:t>Scope, environments, entry/exit criteria, risk, pyramid mix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423159"/>
            <a:ext cx="10881360" cy="548640"/>
          </a:xfrm>
          <a:prstGeom prst="rect">
            <a:avLst/>
          </a:prstGeom>
          <a:solidFill>
            <a:srgbClr val="F1F4F9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51459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E6FB5"/>
                </a:solidFill>
                <a:latin typeface="Consolas"/>
              </a:rPr>
              <a:t>test-cases.md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2532887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/>
          <a:lstStyle/>
          <a:p>
            <a:pPr algn="ctr"/>
            <a:r>
              <a:rPr sz="1000" b="1">
                <a:solidFill>
                  <a:srgbClr val="2E6FB5"/>
                </a:solidFill>
                <a:latin typeface="Calibri"/>
              </a:rPr>
              <a:t>Step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514599"/>
            <a:ext cx="6720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C6E87"/>
                </a:solidFill>
                <a:latin typeface="Calibri"/>
              </a:rPr>
              <a:t>Per-issue case tables + Figma-derived UI notes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971799"/>
            <a:ext cx="10881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06323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E6FB5"/>
                </a:solidFill>
                <a:latin typeface="Consolas"/>
              </a:rPr>
              <a:t>network-capture.md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3081527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/>
          <a:lstStyle/>
          <a:p>
            <a:pPr algn="ctr"/>
            <a:r>
              <a:rPr sz="1000" b="1">
                <a:solidFill>
                  <a:srgbClr val="2E6FB5"/>
                </a:solidFill>
                <a:latin typeface="Calibr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063239"/>
            <a:ext cx="6720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C6E87"/>
                </a:solidFill>
                <a:latin typeface="Calibri"/>
              </a:rPr>
              <a:t>Distinct endpoints observed during seeding/execution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520439"/>
            <a:ext cx="10881360" cy="548640"/>
          </a:xfrm>
          <a:prstGeom prst="rect">
            <a:avLst/>
          </a:prstGeom>
          <a:solidFill>
            <a:srgbClr val="F1F4F9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61187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E6FB5"/>
                </a:solidFill>
                <a:latin typeface="Consolas"/>
              </a:rPr>
              <a:t>script-changes.md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11880" y="3630167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/>
          <a:lstStyle/>
          <a:p>
            <a:pPr algn="ctr"/>
            <a:r>
              <a:rPr sz="1000" b="1">
                <a:solidFill>
                  <a:srgbClr val="2E6FB5"/>
                </a:solidFill>
                <a:latin typeface="Calibri"/>
              </a:rPr>
              <a:t>Step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3611879"/>
            <a:ext cx="6720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C6E87"/>
                </a:solidFill>
                <a:latin typeface="Calibri"/>
              </a:rPr>
              <a:t>Every spec/page-object/fixture touched, with why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069079"/>
            <a:ext cx="10881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416051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E6FB5"/>
                </a:solidFill>
                <a:latin typeface="Consolas"/>
              </a:rPr>
              <a:t>report.md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11880" y="4178807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/>
          <a:lstStyle/>
          <a:p>
            <a:pPr algn="ctr"/>
            <a:r>
              <a:rPr sz="1000" b="1">
                <a:solidFill>
                  <a:srgbClr val="2E6FB5"/>
                </a:solidFill>
                <a:latin typeface="Calibri"/>
              </a:rPr>
              <a:t>Step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160519"/>
            <a:ext cx="6720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C6E87"/>
                </a:solidFill>
                <a:latin typeface="Calibri"/>
              </a:rPr>
              <a:t>Detailed results, deviations, failure evidence, Figma parity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4617719"/>
            <a:ext cx="10881360" cy="548640"/>
          </a:xfrm>
          <a:prstGeom prst="rect">
            <a:avLst/>
          </a:prstGeom>
          <a:solidFill>
            <a:srgbClr val="F1F4F9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470915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E6FB5"/>
                </a:solidFill>
                <a:latin typeface="Consolas"/>
              </a:rPr>
              <a:t>execution-summary.md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11880" y="4727447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/>
          <a:lstStyle/>
          <a:p>
            <a:pPr algn="ctr"/>
            <a:r>
              <a:rPr sz="1000" b="1">
                <a:solidFill>
                  <a:srgbClr val="2E6FB5"/>
                </a:solidFill>
                <a:latin typeface="Calibri"/>
              </a:rPr>
              <a:t>Step 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709159"/>
            <a:ext cx="6720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C6E87"/>
                </a:solidFill>
                <a:latin typeface="Calibri"/>
              </a:rPr>
              <a:t>One-minute read: pass/fail, mix, go/no-go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5166359"/>
            <a:ext cx="10881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7240" y="525779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E6FB5"/>
                </a:solidFill>
                <a:latin typeface="Consolas"/>
              </a:rPr>
              <a:t>jira-bug-drafts.md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11880" y="5276087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/>
          <a:lstStyle/>
          <a:p>
            <a:pPr algn="ctr"/>
            <a:r>
              <a:rPr sz="1000" b="1">
                <a:solidFill>
                  <a:srgbClr val="2E6FB5"/>
                </a:solidFill>
                <a:latin typeface="Calibri"/>
              </a:rPr>
              <a:t>Step 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5257799"/>
            <a:ext cx="6720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C6E87"/>
                </a:solidFill>
                <a:latin typeface="Calibri"/>
              </a:rPr>
              <a:t>Draft-only — needs your confirmation to file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9893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1">
                <a:solidFill>
                  <a:srgbClr val="B85A2E"/>
                </a:solidFill>
                <a:latin typeface="Calibri"/>
              </a:rPr>
              <a:t>report.md and execution-summary.md are re-read from disk before the run is declared complete — a chat summary alone doesn't count.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13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92608"/>
            <a:ext cx="1920240" cy="51310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HUMAN IN THE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 Light"/>
              </a:rPr>
              <a:t>It drafts. It never files.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011680"/>
            <a:ext cx="320040" cy="32004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845820" y="2331720"/>
            <a:ext cx="0" cy="685800"/>
          </a:xfrm>
          <a:prstGeom prst="line">
            <a:avLst/>
          </a:prstGeom>
          <a:ln w="19050">
            <a:solidFill>
              <a:srgbClr val="DC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34440" y="1947672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1F3A5F"/>
                </a:solidFill>
                <a:latin typeface="Calibri"/>
              </a:rPr>
              <a:t>Genuine deviation found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13432"/>
            <a:ext cx="9326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C6E87"/>
                </a:solidFill>
                <a:latin typeface="Calibri"/>
              </a:rPr>
              <a:t>Not an automation defect — a real behavior contradicting the Epic/Story's AC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063240"/>
            <a:ext cx="320040" cy="32004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845820" y="3383280"/>
            <a:ext cx="0" cy="685800"/>
          </a:xfrm>
          <a:prstGeom prst="line">
            <a:avLst/>
          </a:prstGeom>
          <a:ln w="19050">
            <a:solidFill>
              <a:srgbClr val="DC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34440" y="2999232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1F3A5F"/>
                </a:solidFill>
                <a:latin typeface="Calibri"/>
              </a:rPr>
              <a:t>Draft written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364992"/>
            <a:ext cx="9326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C6E87"/>
                </a:solidFill>
                <a:latin typeface="Calibri"/>
              </a:rPr>
              <a:t>Summary, environment, steps to reproduce, expected/actual, severity, evidence paths — in jira-bug-drafts.md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4114800"/>
            <a:ext cx="320040" cy="32004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845820" y="4434840"/>
            <a:ext cx="0" cy="685800"/>
          </a:xfrm>
          <a:prstGeom prst="line">
            <a:avLst/>
          </a:prstGeom>
          <a:ln w="19050">
            <a:solidFill>
              <a:srgbClr val="DC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234440" y="4050792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1F3A5F"/>
                </a:solidFill>
                <a:latin typeface="Calibri"/>
              </a:rPr>
              <a:t>You review &amp; confirm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416552"/>
            <a:ext cx="9326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C6E87"/>
                </a:solidFill>
                <a:latin typeface="Calibri"/>
              </a:rPr>
              <a:t>Nothing is created until you explicitly say which drafts to file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5166360"/>
            <a:ext cx="320040" cy="320040"/>
          </a:xfrm>
          <a:prstGeom prst="ellipse">
            <a:avLst/>
          </a:prstGeom>
          <a:solidFill>
            <a:srgbClr val="5C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34440" y="5102352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1F3A5F"/>
                </a:solidFill>
                <a:latin typeface="Calibri"/>
              </a:rPr>
              <a:t>Only then: real Jira issue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468112"/>
            <a:ext cx="9326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C6E87"/>
                </a:solidFill>
                <a:latin typeface="Calibri"/>
              </a:rPr>
              <a:t>POST /rest/api/3/issue via config defaults — created keys reported 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3920" y="1965960"/>
            <a:ext cx="3108960" cy="4023360"/>
          </a:xfrm>
          <a:prstGeom prst="roundRect">
            <a:avLst>
              <a:gd name="adj" fmla="val 8000"/>
            </a:avLst>
          </a:prstGeom>
          <a:solidFill>
            <a:srgbClr val="FCEEE6"/>
          </a:solidFill>
          <a:ln w="9525">
            <a:solidFill>
              <a:srgbClr val="B85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32520" y="219456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B85A2E"/>
                </a:solidFill>
                <a:latin typeface="Calibri"/>
              </a:rPr>
              <a:t>WHY IT MATTERS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2606040"/>
            <a:ext cx="26517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3A5F"/>
                </a:solidFill>
                <a:latin typeface="Calibri"/>
              </a:rPr>
              <a:t>Auto-filing bugs against a shared Jira project is a write action with real cost — noisy backlogs, wrong-severity tickets, alert fatigue. A draft costs nothing to be wrong; a filed ticket costs someone's afternoon.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14 /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6AA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6AADC8"/>
                </a:solidFill>
                <a:latin typeface="Calibri"/>
              </a:rPr>
              <a:t>TRY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 Light"/>
              </a:rPr>
              <a:t>Three steps to a live run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10881360" cy="1024128"/>
          </a:xfrm>
          <a:prstGeom prst="roundRect">
            <a:avLst>
              <a:gd name="adj" fmla="val 8000"/>
            </a:avLst>
          </a:prstGeom>
          <a:solidFill>
            <a:srgbClr val="2B4C78"/>
          </a:solidFill>
          <a:ln w="9525">
            <a:solidFill>
              <a:srgbClr val="335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8680" y="2258568"/>
            <a:ext cx="438912" cy="438912"/>
          </a:xfrm>
          <a:prstGeom prst="ellipse">
            <a:avLst/>
          </a:prstGeom>
          <a:solidFill>
            <a:srgbClr val="6AA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F3A5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11226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6AADC8"/>
                </a:solidFill>
                <a:latin typeface="Consolas"/>
              </a:rPr>
              <a:t>cp .env.example .env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496312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C9D6E6"/>
                </a:solidFill>
                <a:latin typeface="Calibri"/>
              </a:rPr>
              <a:t>Fill in JIRA_API_TOKEN, FIGMA_API_TOKEN, GIT_TOKEN, app credentials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200400"/>
            <a:ext cx="10881360" cy="1024128"/>
          </a:xfrm>
          <a:prstGeom prst="roundRect">
            <a:avLst>
              <a:gd name="adj" fmla="val 8000"/>
            </a:avLst>
          </a:prstGeom>
          <a:solidFill>
            <a:srgbClr val="2B4C78"/>
          </a:solidFill>
          <a:ln w="9525">
            <a:solidFill>
              <a:srgbClr val="335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68680" y="3493008"/>
            <a:ext cx="438912" cy="438912"/>
          </a:xfrm>
          <a:prstGeom prst="ellipse">
            <a:avLst/>
          </a:prstGeom>
          <a:solidFill>
            <a:srgbClr val="6AA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F3A5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34670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6AADC8"/>
                </a:solidFill>
                <a:latin typeface="Consolas"/>
              </a:rPr>
              <a:t>edit config/qa-agent.config.json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730752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C9D6E6"/>
                </a:solidFill>
                <a:latin typeface="Calibri"/>
              </a:rPr>
              <a:t>Jira project, Figma team, per-environment app/API URLs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434840"/>
            <a:ext cx="10881360" cy="1024128"/>
          </a:xfrm>
          <a:prstGeom prst="roundRect">
            <a:avLst>
              <a:gd name="adj" fmla="val 8000"/>
            </a:avLst>
          </a:prstGeom>
          <a:solidFill>
            <a:srgbClr val="2B4C78"/>
          </a:solidFill>
          <a:ln w="9525">
            <a:solidFill>
              <a:srgbClr val="335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68680" y="4727448"/>
            <a:ext cx="438912" cy="438912"/>
          </a:xfrm>
          <a:prstGeom prst="ellipse">
            <a:avLst/>
          </a:prstGeom>
          <a:solidFill>
            <a:srgbClr val="6AA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F3A5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58114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6AADC8"/>
                </a:solidFill>
                <a:latin typeface="Consolas"/>
              </a:rPr>
              <a:t>"Run the qa-analyst agent for PROJ-1234"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965192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C9D6E6"/>
                </a:solidFill>
                <a:latin typeface="Calibri"/>
              </a:rPr>
              <a:t>Or: Agent tool with subagent_type: qa-analyst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9893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7E91AC"/>
                </a:solidFill>
                <a:latin typeface="Consolas"/>
              </a:rPr>
              <a:t>.claude/agents/qa-analyst.md   ·   QA_ANALYST_README.md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2649</TotalTime>
  <Words>2120</Words>
  <Application>Microsoft Office PowerPoint</Application>
  <PresentationFormat>Widescreen</PresentationFormat>
  <Paragraphs>283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Calibri</vt:lpstr>
      <vt:lpstr>Calibri Light</vt:lpstr>
      <vt:lpstr>Consolas</vt:lpstr>
      <vt:lpstr>Office Theme</vt:lpstr>
      <vt:lpstr>AI Hackathon – qa-analyst The end-to-end QA analyst that turns a Jira Epic into a tested, reported, go/no-go decision — plan, gate, seed, script, execute, and report, with humans only in the loop where it matters.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Rohit Omar</cp:lastModifiedBy>
  <cp:revision>3</cp:revision>
  <dcterms:created xsi:type="dcterms:W3CDTF">2013-01-27T09:14:16Z</dcterms:created>
  <dcterms:modified xsi:type="dcterms:W3CDTF">2026-07-15T07:11:32Z</dcterms:modified>
  <cp:category/>
</cp:coreProperties>
</file>